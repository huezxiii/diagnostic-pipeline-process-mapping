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at?" id="{769c6a10-c09d-1dd2-b541-9c4119b98085}">
          <p14:sldIdLst>
            <p14:sldId id="256"/>
            <p14:sldId id="257"/>
            <p14:sldId id="258"/>
          </p14:sldIdLst>
        </p14:section>
        <p14:section name="So What?" id="{dc693a2e-3699-3596-376f-1061c8ac23b4}">
          <p14:sldIdLst>
            <p14:sldId id="259"/>
            <p14:sldId id="260"/>
            <p14:sldId id="261"/>
          </p14:sldIdLst>
        </p14:section>
        <p14:section name="Now What?" id="{e71763e6-a35e-ac3d-784c-b48ce7b20332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Mean waiting minutes per order, As-Is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As-Is non-value-added minutes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Central Accessioning</c:v>
                  </c:pt>
                  <c:pt idx="1">
                    <c:v>Clinic Holding Bin</c:v>
                  </c:pt>
                  <c:pt idx="2">
                    <c:v>Verification &amp; EHR Sync</c:v>
                  </c:pt>
                  <c:pt idx="3">
                    <c:v>Exception Resolution</c:v>
                  </c:pt>
                  <c:pt idx="4">
                    <c:v>Sort &amp; Testing</c:v>
                  </c:pt>
                  <c:pt idx="5">
                    <c:v>Courier Transport &amp; Dock</c:v>
                  </c:pt>
                  <c:pt idx="6">
                    <c:v>Order to Draw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270</c:v>
                </c:pt>
                <c:pt idx="1">
                  <c:v>168</c:v>
                </c:pt>
                <c:pt idx="2">
                  <c:v>158</c:v>
                </c:pt>
                <c:pt idx="3">
                  <c:v>153</c:v>
                </c:pt>
                <c:pt idx="4">
                  <c:v>120</c:v>
                </c:pt>
                <c:pt idx="5">
                  <c:v>110</c:v>
                </c:pt>
                <c:pt idx="6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Minutes per order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Value-added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</c:v>
                </c:pt>
                <c:pt idx="1">
                  <c:v>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Waiting, transit, rework</c:v>
                </c:pt>
              </c:strCache>
            </c:strRef>
          </c:tx>
          <c:spPr>
            <a:solidFill>
              <a:srgbClr val="B7B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1074</c:v>
                </c:pt>
                <c:pt idx="1">
                  <c:v>234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F667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approve a $520K, 16-week program that cuts lab time-to-result by three quarters. Structure: what is happening, why it matters, what we do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analyzer upgrade did its job. Everything around it did not scale: 96% of the cycle is queueing, transit, re-keying and exception handling.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Minutes come from timestamps mined across 10,000 orders. Testing shows queue time only; the 42-minute analyzer run is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bottleneck maps to one lever on slide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 cycle efficiency = value-added time / total cycle time. The healthcare benchmark is above 15%.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Penalties and overtime are annual figures from finance. Patient risk shows up as ED length of stay and a 48-minute critical-value 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fall from 18 to 12. Every remaining handoff is a scan or an API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values for accessioning, clinic hold and exceptions are mined means from the simulated To-Be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ROI = (annual savings - capex) / capex. Savings categories: ED penalties $2.4M, overtime $850K, length of stay $680K, rework $420K.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approve capital and name an executive sponsor for the central hub and ED deployment in weeks 11 to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· EXECUTIVE BRIEFING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turnaround: 18.6 h to 4.6 h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mapping, value stream analysis and a 16-week plan to remove the queues around a $6.5M analyzer investment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SITUATION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takes 42 minutes of an 18.6 h wait</a:t>
            </a:r>
            <a:endParaRPr lang="en-US" sz="3000" dirty="0"/>
          </a:p>
        </p:txBody>
      </p:sp>
      <p:sp>
        <p:nvSpPr>
          <p:cNvPr id="5" name="stat-card-1"/>
          <p:cNvSpPr/>
          <p:nvPr/>
        </p:nvSpPr>
        <p:spPr>
          <a:xfrm>
            <a:off x="54864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18.6 h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time-to-result today, up from 4.2 h before the expansion</a:t>
            </a:r>
            <a:endParaRPr lang="en-US" sz="1400" dirty="0"/>
          </a:p>
        </p:txBody>
      </p:sp>
      <p:sp>
        <p:nvSpPr>
          <p:cNvPr id="8" name="stat-card-2"/>
          <p:cNvSpPr/>
          <p:nvPr/>
        </p:nvSpPr>
        <p:spPr>
          <a:xfrm>
            <a:off x="429768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min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Value-added analyzer and centrifuge time per order</a:t>
            </a:r>
            <a:endParaRPr lang="en-US" sz="1400" dirty="0"/>
          </a:p>
        </p:txBody>
      </p:sp>
      <p:sp>
        <p:nvSpPr>
          <p:cNvPr id="11" name="stat-card-3"/>
          <p:cNvSpPr/>
          <p:nvPr/>
        </p:nvSpPr>
        <p:spPr>
          <a:xfrm>
            <a:off x="804672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2104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$6.5M</a:t>
            </a:r>
            <a:endParaRPr lang="en-US" sz="48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on high-throughput analyzers that now sit idle between batch waves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hospitals and 45 diagnostic hubs</a:t>
            </a:r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send 1.2 million lab orders a year through one central lab. The bottleneck is not the analyzer; it is how specimens and data reach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WHERE THE TIME GOES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accessioning holds 25% of all waiting time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ommentary"/>
          <p:cNvSpPr/>
          <p:nvPr/>
        </p:nvSpPr>
        <p:spPr>
          <a:xfrm>
            <a:off x="7863840" y="173736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38160" y="201168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clinic specimens land between 4 and 6 PM, when evening staffing drops 30%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holds average 18.0 h for the 14.2% of orders that hit one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holding bins add 2.8 h because couriers run on a fixed clock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ROOT CAUSES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bottlenecks drive the delay</a:t>
            </a:r>
            <a:endParaRPr lang="en-US" sz="3000" dirty="0"/>
          </a:p>
        </p:txBody>
      </p:sp>
      <p:sp>
        <p:nvSpPr>
          <p:cNvPr id="5" name="bottleneck-1"/>
          <p:cNvSpPr/>
          <p:nvPr/>
        </p:nvSpPr>
        <p:spPr>
          <a:xfrm>
            <a:off x="54864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h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 wave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arrivals meet manual rescans; 8.4% of entries need re-keying</a:t>
            </a:r>
            <a:endParaRPr lang="en-US" sz="1400" dirty="0"/>
          </a:p>
        </p:txBody>
      </p:sp>
      <p:sp>
        <p:nvSpPr>
          <p:cNvPr id="9" name="bottleneck-2"/>
          <p:cNvSpPr/>
          <p:nvPr/>
        </p:nvSpPr>
        <p:spPr>
          <a:xfrm>
            <a:off x="617220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inflation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ED STATs wait 152 min for testing, longer than flagged-routine STATs (119 min)</a:t>
            </a:r>
            <a:endParaRPr lang="en-US" sz="1400" dirty="0"/>
          </a:p>
        </p:txBody>
      </p:sp>
      <p:sp>
        <p:nvSpPr>
          <p:cNvPr id="13" name="bottleneck-3"/>
          <p:cNvSpPr/>
          <p:nvPr/>
        </p:nvSpPr>
        <p:spPr>
          <a:xfrm>
            <a:off x="54864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h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courier clock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Specimens idle in clinic bins; 3.2% are rejected for degradation</a:t>
            </a:r>
            <a:endParaRPr lang="en-US" sz="1400" dirty="0"/>
          </a:p>
        </p:txBody>
      </p:sp>
      <p:sp>
        <p:nvSpPr>
          <p:cNvPr id="17" name="bottleneck-4"/>
          <p:cNvSpPr/>
          <p:nvPr/>
        </p:nvSpPr>
        <p:spPr>
          <a:xfrm>
            <a:off x="617220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4652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18.0 h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864108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exception tickets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mismatches travel by inter-office mail while samples expire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VALUE STREAM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3.76% of the cycle adds value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pce-callout"/>
          <p:cNvSpPr/>
          <p:nvPr/>
        </p:nvSpPr>
        <p:spPr>
          <a:xfrm>
            <a:off x="8229600" y="173736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0392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3.76%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8503920" y="28803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process cycle efficiency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503920" y="38404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15.22%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To-Be, above the 15% benchmark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BUSINESS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delay costs $6.0M a year before patient risk</a:t>
            </a:r>
            <a:endParaRPr lang="en-US" sz="3000" dirty="0"/>
          </a:p>
        </p:txBody>
      </p:sp>
      <p:sp>
        <p:nvSpPr>
          <p:cNvPr id="5" name="impact-1"/>
          <p:cNvSpPr/>
          <p:nvPr/>
        </p:nvSpPr>
        <p:spPr>
          <a:xfrm>
            <a:off x="54864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$4.8M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penalties, bed blockage and walk-outs (+3.4 h ED length of stay)</a:t>
            </a:r>
            <a:endParaRPr lang="en-US" sz="1400" dirty="0"/>
          </a:p>
        </p:txBody>
      </p:sp>
      <p:sp>
        <p:nvSpPr>
          <p:cNvPr id="8" name="impact-2"/>
          <p:cNvSpPr/>
          <p:nvPr/>
        </p:nvSpPr>
        <p:spPr>
          <a:xfrm>
            <a:off x="338328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188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$1.2M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361188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Unbudgeted overtime and expedited freight</a:t>
            </a:r>
            <a:endParaRPr lang="en-US" sz="1400" dirty="0"/>
          </a:p>
        </p:txBody>
      </p:sp>
      <p:sp>
        <p:nvSpPr>
          <p:cNvPr id="11" name="impact-3"/>
          <p:cNvSpPr/>
          <p:nvPr/>
        </p:nvSpPr>
        <p:spPr>
          <a:xfrm>
            <a:off x="621792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14.2%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needing manual intervention or re-collection</a:t>
            </a:r>
            <a:endParaRPr lang="en-US" sz="1400" dirty="0"/>
          </a:p>
        </p:txBody>
      </p:sp>
      <p:sp>
        <p:nvSpPr>
          <p:cNvPr id="14" name="impact-4"/>
          <p:cNvSpPr/>
          <p:nvPr/>
        </p:nvSpPr>
        <p:spPr>
          <a:xfrm>
            <a:off x="905256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8116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min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928116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panic-value flag to the physician phone call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the process as it is means paying for idle analyzers, overtime and ED congestion at the same time.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TO-BE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lanes, 12 steps, no manual handoffs</a:t>
            </a:r>
            <a:endParaRPr lang="en-US" sz="3000" dirty="0"/>
          </a:p>
        </p:txBody>
      </p:sp>
      <p:sp>
        <p:nvSpPr>
          <p:cNvPr id="5" name="lane-1"/>
          <p:cNvSpPr/>
          <p:nvPr/>
        </p:nvSpPr>
        <p:spPr>
          <a:xfrm>
            <a:off x="548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entry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Auto-barcoded EHR orders and smart phlebotomy scans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587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0" name="lane-2"/>
          <p:cNvSpPr/>
          <p:nvPr/>
        </p:nvSpPr>
        <p:spPr>
          <a:xfrm>
            <a:off x="2834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63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3063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triggered at 25 tubes, direct to the hub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873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5" name="lane-3"/>
          <p:cNvSpPr/>
          <p:nvPr/>
        </p:nvSpPr>
        <p:spPr>
          <a:xfrm>
            <a:off x="5120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14365D"/>
          </a:solidFill>
          <a:ln w="12700">
            <a:solidFill>
              <a:srgbClr val="14365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49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5349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349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unloading and optical sorting at 1,200 tubes/h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159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0" name="lane-4"/>
          <p:cNvSpPr/>
          <p:nvPr/>
        </p:nvSpPr>
        <p:spPr>
          <a:xfrm>
            <a:off x="7406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35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7635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35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Rule-engine triage and 92% auto-verification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9445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5" name="lane-5"/>
          <p:cNvSpPr/>
          <p:nvPr/>
        </p:nvSpPr>
        <p:spPr>
          <a:xfrm>
            <a:off x="9692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921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9921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sync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921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writeback and push alerts for critical values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Accessioning, the largest As-Is queue, drops from 4.5 h to 12 min.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LEVERS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changes, each aimed at one queue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00400"/>
                <a:gridCol w="18288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accessioning sorters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Accessioning queue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Volume-triggered courier dispatch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 holding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governance in the EHR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exception portal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resolution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lever removes a queue rather than speeding up a step, so the gains do not depend on staff working faster.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75.3% faster, $4.35M a year, paid back in 1.4 months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As-Is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To-Be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time-to-result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cycle efficiency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Re-key error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Specimen rejection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Critical-value lag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roi-1"/>
          <p:cNvSpPr/>
          <p:nvPr/>
        </p:nvSpPr>
        <p:spPr>
          <a:xfrm>
            <a:off x="7680960" y="17373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95528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736.5%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7955280" y="25420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 net ROI</a:t>
            </a:r>
            <a:endParaRPr lang="en-US" sz="1400" dirty="0"/>
          </a:p>
        </p:txBody>
      </p:sp>
      <p:sp>
        <p:nvSpPr>
          <p:cNvPr id="9" name="roi-2"/>
          <p:cNvSpPr/>
          <p:nvPr/>
        </p:nvSpPr>
        <p:spPr>
          <a:xfrm>
            <a:off x="7680960" y="32004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55280" y="3337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$4.35M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7955280" y="4005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savings on $520K capex</a:t>
            </a:r>
            <a:endParaRPr lang="en-US" sz="1400" dirty="0"/>
          </a:p>
        </p:txBody>
      </p:sp>
      <p:sp>
        <p:nvSpPr>
          <p:cNvPr id="12" name="roi-3"/>
          <p:cNvSpPr/>
          <p:nvPr/>
        </p:nvSpPr>
        <p:spPr>
          <a:xfrm>
            <a:off x="7680960" y="46634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55280" y="4800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mo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7955280" y="54681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DECISION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$520K and a 16-week program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743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Charter &amp; baseline VSM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54880" y="279806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7" name="phase-1"/>
          <p:cNvSpPr/>
          <p:nvPr/>
        </p:nvSpPr>
        <p:spPr>
          <a:xfrm>
            <a:off x="4754880" y="279806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1821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Process mining &amp; LIS log analysis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754880" y="3236976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0" name="phase-2"/>
          <p:cNvSpPr/>
          <p:nvPr/>
        </p:nvSpPr>
        <p:spPr>
          <a:xfrm>
            <a:off x="5589270" y="3236976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6210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Root cause (fishbone &amp; FMEA)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3675888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3" name="phase-3"/>
          <p:cNvSpPr/>
          <p:nvPr/>
        </p:nvSpPr>
        <p:spPr>
          <a:xfrm>
            <a:off x="6840855" y="3675888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599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To-Be architecture &amp; pilot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754880" y="4114800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6" name="phase-4"/>
          <p:cNvSpPr/>
          <p:nvPr/>
        </p:nvSpPr>
        <p:spPr>
          <a:xfrm>
            <a:off x="7675245" y="4114800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4988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Central hub &amp; ED deployment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754880" y="4553712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9" name="phase-5"/>
          <p:cNvSpPr/>
          <p:nvPr/>
        </p:nvSpPr>
        <p:spPr>
          <a:xfrm>
            <a:off x="8926830" y="4553712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4937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System-wide rollout &amp; SOP training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754880" y="499262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2" name="phase-6"/>
          <p:cNvSpPr/>
          <p:nvPr/>
        </p:nvSpPr>
        <p:spPr>
          <a:xfrm>
            <a:off x="10178415" y="499262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Audit &amp; control plan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754880" y="5431536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5" name="phase-7"/>
          <p:cNvSpPr/>
          <p:nvPr/>
        </p:nvSpPr>
        <p:spPr>
          <a:xfrm>
            <a:off x="11012805" y="5431536"/>
            <a:ext cx="41719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54880" y="5852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332720" y="5852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Pipeline Turnaround: Executive Briefing</dc:title>
  <dc:subject>Process mapping and throughput optimization case study</dc:subject>
  <dc:creator>Portfolio case study</dc:creator>
  <cp:lastModifiedBy>Portfolio case study</cp:lastModifiedBy>
  <cp:revision>1</cp:revision>
  <dcterms:created xsi:type="dcterms:W3CDTF">2026-10-11T23:48:41Z</dcterms:created>
  <dcterms:modified xsi:type="dcterms:W3CDTF">2026-10-11T23:48:41Z</dcterms:modified>
</cp:coreProperties>
</file>