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at?" id="{fcf33a46-9612-bb30-10bf-bd1f34cca1ae}">
          <p14:sldIdLst>
            <p14:sldId id="256"/>
            <p14:sldId id="257"/>
            <p14:sldId id="258"/>
          </p14:sldIdLst>
        </p14:section>
        <p14:section name="So What?" id="{e815e472-fe43-a8ba-f20a-988f5288dbad}">
          <p14:sldIdLst>
            <p14:sldId id="259"/>
            <p14:sldId id="260"/>
            <p14:sldId id="261"/>
          </p14:sldIdLst>
        </p14:section>
        <p14:section name="Now What?" id="{867b1654-9dca-be7e-73c7-8487e87e4f84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Mean waiting minutes per order, As-Is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As-Is non-value-added minutes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Central Accessioning</c:v>
                  </c:pt>
                  <c:pt idx="1">
                    <c:v>Clinic Holding Bin</c:v>
                  </c:pt>
                  <c:pt idx="2">
                    <c:v>Verification &amp; EHR Sync</c:v>
                  </c:pt>
                  <c:pt idx="3">
                    <c:v>Exception Resolution</c:v>
                  </c:pt>
                  <c:pt idx="4">
                    <c:v>Sort &amp; Testing</c:v>
                  </c:pt>
                  <c:pt idx="5">
                    <c:v>Courier Transport &amp; Dock</c:v>
                  </c:pt>
                  <c:pt idx="6">
                    <c:v>Order to Draw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270</c:v>
                </c:pt>
                <c:pt idx="1">
                  <c:v>168</c:v>
                </c:pt>
                <c:pt idx="2">
                  <c:v>158</c:v>
                </c:pt>
                <c:pt idx="3">
                  <c:v>153</c:v>
                </c:pt>
                <c:pt idx="4">
                  <c:v>120</c:v>
                </c:pt>
                <c:pt idx="5">
                  <c:v>110</c:v>
                </c:pt>
                <c:pt idx="6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Minutes per order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Value-added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Waiting, transit, rework</c:v>
                </c:pt>
              </c:strCache>
            </c:strRef>
          </c:tx>
          <c:spPr>
            <a:solidFill>
              <a:srgbClr val="B7B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1074</c:v>
                </c:pt>
                <c:pt idx="1">
                  <c:v>234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F667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Lab results now take 18.6 h on average, up from 4.2 h. This briefing shows where the time goes and asks for $520K to bring it down to 4.6 h.
Detail: Structure: what is happening, why it matters, what we do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analyzers work on each sample for 42 min. The other 17.9 h is spent waiting before and after.
Detail: The analyzer upgrade did its job. Everything around it did not scale: 96% of the cycle is queueing, transit, re-keying and exception handling.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biggest single wait is at sample intake, where tubes are logged in by hand. 60% of clinic samples arrive between 4 and 6 PM, just as evening staffing drops.
Detail: Minutes come from timestamps mined across 10,000 orders. Testing shows queue time only; the 42-minute analyzer run is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Four problems cause most of the delay, and each has a fix later in the deck. One is that 38% of orders are marked urgent, so real emergencies get stuck behind routine work.
Detail: Ranked by non-value-added minutes from the event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For every hour a sample spends in the system, less than three minutes is real work. The rest is waiting, transport and fixing mistakes.
Detail: Process cycle efficiency = value-added time / total cycle time. The healthcare benchmark is above 15%.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delay costs about $6M a year in penalties and overtime. Doctors also wait 48 min to hear about dangerous results.
Detail: Penalties and overtime are annual figures from finance. Patient risk shows up as ED length of stay and a 48-minute critical-value 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new process removes six steps and every point where people retype data. Logging samples in drops from 4.5 h to 12 min.
Detail: Steps fall from 18 to 12. Every remaining handoff is a scan or an API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Each change targets one of the four problems from slide 4. The table shows the before and after for each one.
Detail: Before/after values for accessioning, clinic hold and exceptions are mined means from the simulated To-Be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Results come back 75.3% faster and the program saves $4.35M a year. It pays for itself in 1.4 months.
Detail: ROI = (annual savings - capex) / capex. Savings categories: ED penalties $2.4M, overtime $850K, length of stay $680K, rework $420K.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We need two things today: approval for $520K and an executive sponsor. The first results arrive with the central hub and ED rollout in weeks 11 to 13.
Detail: Ask: approve capital and name an executive sponsor for the central hub and ED deployment in weeks 11 to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· EXECUTIVE BRIEFING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Cutting lab result time from 18.6 h to 4.6 h</a:t>
            </a:r>
            <a:endParaRPr lang="en-US" sz="40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2468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uses the same analyzers and staff. It changes how samples and information move between teams.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SITUATION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takes 42 minutes of an 18.6 h wait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analyzers work. Samples spend the rest of the day waiting around them.</a:t>
            </a:r>
            <a:endParaRPr lang="en-US" sz="1600" dirty="0"/>
          </a:p>
        </p:txBody>
      </p:sp>
      <p:sp>
        <p:nvSpPr>
          <p:cNvPr id="6" name="stat-card-1"/>
          <p:cNvSpPr/>
          <p:nvPr/>
        </p:nvSpPr>
        <p:spPr>
          <a:xfrm>
            <a:off x="54864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18.6 h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time-to-result today, up from 4.2 h before the expansion</a:t>
            </a:r>
            <a:endParaRPr lang="en-US" sz="1400" dirty="0"/>
          </a:p>
        </p:txBody>
      </p:sp>
      <p:sp>
        <p:nvSpPr>
          <p:cNvPr id="9" name="stat-card-2"/>
          <p:cNvSpPr/>
          <p:nvPr/>
        </p:nvSpPr>
        <p:spPr>
          <a:xfrm>
            <a:off x="429768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min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Value-added analyzer and centrifuge time per order</a:t>
            </a:r>
            <a:endParaRPr lang="en-US" sz="1400" dirty="0"/>
          </a:p>
        </p:txBody>
      </p:sp>
      <p:sp>
        <p:nvSpPr>
          <p:cNvPr id="12" name="stat-card-3"/>
          <p:cNvSpPr/>
          <p:nvPr/>
        </p:nvSpPr>
        <p:spPr>
          <a:xfrm>
            <a:off x="804672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$6.5M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on high-throughput analyzers that now sit idle between batch waves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hospitals and 45 diagnostic hubs</a:t>
            </a:r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send 1.2 million lab orders a year through one central lab. The bottleneck is not the analyzer; it is how specimens and data reach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WHERE THE TIME GOES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intake holds 25% of all waiting time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samples in on arrival (accessioning) is the biggest single queue.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ommentary"/>
          <p:cNvSpPr/>
          <p:nvPr/>
        </p:nvSpPr>
        <p:spPr>
          <a:xfrm>
            <a:off x="7863840" y="173736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38160" y="201168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clinic specimens land between 4 and 6 PM, when evening staffing drops 30%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holds average 18.0 h for the 14.2% of orders that hit 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holding bins add 2.8 h because couriers run on a fixed clock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ROOT CAUSES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 cause most of the delay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problem has a matching fix on slide 8.</a:t>
            </a:r>
            <a:endParaRPr lang="en-US" sz="1600" dirty="0"/>
          </a:p>
        </p:txBody>
      </p:sp>
      <p:sp>
        <p:nvSpPr>
          <p:cNvPr id="6" name="bottleneck-1"/>
          <p:cNvSpPr/>
          <p:nvPr/>
        </p:nvSpPr>
        <p:spPr>
          <a:xfrm>
            <a:off x="54864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 wave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arrivals meet manual rescans; 8.4% of entries need re-keying</a:t>
            </a:r>
            <a:endParaRPr lang="en-US" sz="1400" dirty="0"/>
          </a:p>
        </p:txBody>
      </p:sp>
      <p:sp>
        <p:nvSpPr>
          <p:cNvPr id="10" name="bottleneck-2"/>
          <p:cNvSpPr/>
          <p:nvPr/>
        </p:nvSpPr>
        <p:spPr>
          <a:xfrm>
            <a:off x="617220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inflation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ED STATs wait 152 min for testing, longer than flagged-routine STATs (119 min)</a:t>
            </a:r>
            <a:endParaRPr lang="en-US" sz="1400" dirty="0"/>
          </a:p>
        </p:txBody>
      </p:sp>
      <p:sp>
        <p:nvSpPr>
          <p:cNvPr id="14" name="bottleneck-3"/>
          <p:cNvSpPr/>
          <p:nvPr/>
        </p:nvSpPr>
        <p:spPr>
          <a:xfrm>
            <a:off x="54864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h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courier clock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Specimens idle in clinic bins; 3.2% are rejected for degradation</a:t>
            </a:r>
            <a:endParaRPr lang="en-US" sz="1400" dirty="0"/>
          </a:p>
        </p:txBody>
      </p:sp>
      <p:sp>
        <p:nvSpPr>
          <p:cNvPr id="18" name="bottleneck-4"/>
          <p:cNvSpPr/>
          <p:nvPr/>
        </p:nvSpPr>
        <p:spPr>
          <a:xfrm>
            <a:off x="617220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4652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18.0 h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864108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exception tickets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mismatches travel by inter-office mail while samples expire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VALUE STREAM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4% of the 18.6 h is real work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samples waiting in queues between teams.</a:t>
            </a:r>
            <a:endParaRPr lang="en-US" sz="1600" dirty="0"/>
          </a:p>
        </p:txBody>
      </p:sp>
      <p:sp>
        <p:nvSpPr>
          <p:cNvPr id="6" name="waiting-share"/>
          <p:cNvSpPr/>
          <p:nvPr/>
        </p:nvSpPr>
        <p:spPr>
          <a:xfrm>
            <a:off x="548640" y="1783080"/>
            <a:ext cx="3840480" cy="4206240"/>
          </a:xfrm>
          <a:prstGeom prst="roundRect">
            <a:avLst>
              <a:gd name="adj" fmla="val 19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7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18.6 h is waiting, moving or rework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cycle efficiency: 3.76% today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15.22% after the redesign (benchmark above 15%)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663440" y="178308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BUSINESS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delay costs $6.0M a year before patient risk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penalties and overtime come straight out of the budget.</a:t>
            </a:r>
            <a:endParaRPr lang="en-US" sz="1600" dirty="0"/>
          </a:p>
        </p:txBody>
      </p:sp>
      <p:sp>
        <p:nvSpPr>
          <p:cNvPr id="6" name="impact-1"/>
          <p:cNvSpPr/>
          <p:nvPr/>
        </p:nvSpPr>
        <p:spPr>
          <a:xfrm>
            <a:off x="54864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$4.8M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penalties, bed blockage and walk-outs (+3.4 h ED length of stay)</a:t>
            </a:r>
            <a:endParaRPr lang="en-US" sz="1400" dirty="0"/>
          </a:p>
        </p:txBody>
      </p:sp>
      <p:sp>
        <p:nvSpPr>
          <p:cNvPr id="9" name="impact-2"/>
          <p:cNvSpPr/>
          <p:nvPr/>
        </p:nvSpPr>
        <p:spPr>
          <a:xfrm>
            <a:off x="338328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1188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$1.2M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361188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Unbudgeted overtime and expedited freight</a:t>
            </a:r>
            <a:endParaRPr lang="en-US" sz="1400" dirty="0"/>
          </a:p>
        </p:txBody>
      </p:sp>
      <p:sp>
        <p:nvSpPr>
          <p:cNvPr id="12" name="impact-3"/>
          <p:cNvSpPr/>
          <p:nvPr/>
        </p:nvSpPr>
        <p:spPr>
          <a:xfrm>
            <a:off x="621792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14.2%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needing manual intervention or re-collection</a:t>
            </a:r>
            <a:endParaRPr lang="en-US" sz="1400" dirty="0"/>
          </a:p>
        </p:txBody>
      </p:sp>
      <p:sp>
        <p:nvSpPr>
          <p:cNvPr id="15" name="impact-4"/>
          <p:cNvSpPr/>
          <p:nvPr/>
        </p:nvSpPr>
        <p:spPr>
          <a:xfrm>
            <a:off x="905256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28116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min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928116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panic-value flag to the physician phone call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the process as it is means paying for idle analyzers, overtime and ED congestion at the same time.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TO-BE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process has 12 steps and no retyping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and automatic messages replace the steps where people retyped data.</a:t>
            </a:r>
            <a:endParaRPr lang="en-US" sz="1600" dirty="0"/>
          </a:p>
        </p:txBody>
      </p:sp>
      <p:sp>
        <p:nvSpPr>
          <p:cNvPr id="6" name="lane-1"/>
          <p:cNvSpPr/>
          <p:nvPr/>
        </p:nvSpPr>
        <p:spPr>
          <a:xfrm>
            <a:off x="548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entry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Auto-barcoded EHR orders and smart phlebotomy scans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587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1" name="lane-2"/>
          <p:cNvSpPr/>
          <p:nvPr/>
        </p:nvSpPr>
        <p:spPr>
          <a:xfrm>
            <a:off x="2834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63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triggered at 25 tubes, direct to the hub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873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6" name="lane-3"/>
          <p:cNvSpPr/>
          <p:nvPr/>
        </p:nvSpPr>
        <p:spPr>
          <a:xfrm>
            <a:off x="5120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14365D"/>
          </a:solidFill>
          <a:ln w="12700">
            <a:solidFill>
              <a:srgbClr val="14365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49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5349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unloading and optical sorting at 1,200 tubes/h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159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1" name="lane-4"/>
          <p:cNvSpPr/>
          <p:nvPr/>
        </p:nvSpPr>
        <p:spPr>
          <a:xfrm>
            <a:off x="7406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635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7635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635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Rule-engine triage and 92% auto-verification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445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6" name="lane-5"/>
          <p:cNvSpPr/>
          <p:nvPr/>
        </p:nvSpPr>
        <p:spPr>
          <a:xfrm>
            <a:off x="9692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921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8" name="Text 25"/>
          <p:cNvSpPr txBox="1"/>
          <p:nvPr/>
        </p:nvSpPr>
        <p:spPr>
          <a:xfrm>
            <a:off x="9921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sync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9921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writeback and push alerts for critical values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Accessioning, the largest As-Is queue, drops from 4.5 h to 12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LEVERS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changes, each aimed at one queue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fixes depend on staff working faster.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00400"/>
                <a:gridCol w="18288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accessioning sorters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Accessioning queue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Volume-triggered courier dispatch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 holding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governance in the EHR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exception portal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resolution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lever removes a queue, so most of the before and after gap is waiting time that disappears.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75.3% faster, $4.35M a year, paid back in 1.4 months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comes back in 1.4 months, and every quality measure improves.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As-Is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To-Be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time-to-result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cycle efficiency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Re-key error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Specimen rejection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Critical-value lag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roi-1"/>
          <p:cNvSpPr/>
          <p:nvPr/>
        </p:nvSpPr>
        <p:spPr>
          <a:xfrm>
            <a:off x="7680960" y="17373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95528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736.5%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7955280" y="2542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net ROI</a:t>
            </a:r>
            <a:endParaRPr lang="en-US" sz="1400" dirty="0"/>
          </a:p>
        </p:txBody>
      </p:sp>
      <p:sp>
        <p:nvSpPr>
          <p:cNvPr id="10" name="roi-2"/>
          <p:cNvSpPr/>
          <p:nvPr/>
        </p:nvSpPr>
        <p:spPr>
          <a:xfrm>
            <a:off x="7680960" y="32004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3337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$4.35M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4005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savings on $520K capex</a:t>
            </a:r>
            <a:endParaRPr lang="en-US" sz="1400" dirty="0"/>
          </a:p>
        </p:txBody>
      </p:sp>
      <p:sp>
        <p:nvSpPr>
          <p:cNvPr id="13" name="roi-3"/>
          <p:cNvSpPr/>
          <p:nvPr/>
        </p:nvSpPr>
        <p:spPr>
          <a:xfrm>
            <a:off x="7680960" y="46634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55280" y="4800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mo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955280" y="54681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DECISION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$520K and a 16-week program</a:t>
            </a:r>
            <a:endParaRPr lang="en-US" sz="40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needs two things: the capital and a named executive sponsor.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Charter &amp; baseline VSM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343814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8" name="phase-1"/>
          <p:cNvSpPr/>
          <p:nvPr/>
        </p:nvSpPr>
        <p:spPr>
          <a:xfrm>
            <a:off x="4754880" y="343814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767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Process mining &amp; LIS log analysis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754880" y="3822192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1" name="phase-2"/>
          <p:cNvSpPr/>
          <p:nvPr/>
        </p:nvSpPr>
        <p:spPr>
          <a:xfrm>
            <a:off x="5589270" y="3822192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1513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Root cause (fishbone &amp; FMEA)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54880" y="4206240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4" name="phase-3"/>
          <p:cNvSpPr/>
          <p:nvPr/>
        </p:nvSpPr>
        <p:spPr>
          <a:xfrm>
            <a:off x="6840855" y="4206240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354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To-Be architecture &amp; pilot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754880" y="4590288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7" name="phase-4"/>
          <p:cNvSpPr/>
          <p:nvPr/>
        </p:nvSpPr>
        <p:spPr>
          <a:xfrm>
            <a:off x="7675245" y="4590288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9194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Central hub &amp; ED deployment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754880" y="4974336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0" name="phase-5"/>
          <p:cNvSpPr/>
          <p:nvPr/>
        </p:nvSpPr>
        <p:spPr>
          <a:xfrm>
            <a:off x="8926830" y="4974336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5303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System-wide rollout &amp; SOP training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754880" y="535838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3" name="phase-6"/>
          <p:cNvSpPr/>
          <p:nvPr/>
        </p:nvSpPr>
        <p:spPr>
          <a:xfrm>
            <a:off x="10178415" y="535838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5687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Audit &amp; control plan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54880" y="5742432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6" name="phase-7"/>
          <p:cNvSpPr/>
          <p:nvPr/>
        </p:nvSpPr>
        <p:spPr>
          <a:xfrm>
            <a:off x="11012805" y="5742432"/>
            <a:ext cx="41719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54880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332720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16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Pipeline Turnaround: Executive Briefing</dc:title>
  <dc:subject>Process mapping and throughput optimization case study</dc:subject>
  <dc:creator>Portfolio case study</dc:creator>
  <cp:lastModifiedBy>Portfolio case study</cp:lastModifiedBy>
  <cp:revision>1</cp:revision>
  <dcterms:created xsi:type="dcterms:W3CDTF">2026-10-12T04:40:38Z</dcterms:created>
  <dcterms:modified xsi:type="dcterms:W3CDTF">2026-10-12T04:40:38Z</dcterms:modified>
</cp:coreProperties>
</file>