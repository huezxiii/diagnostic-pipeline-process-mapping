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hat?" id="{42494655-6daf-caeb-6121-55cc289de711}">
          <p14:sldIdLst>
            <p14:sldId id="256"/>
            <p14:sldId id="257"/>
            <p14:sldId id="258"/>
          </p14:sldIdLst>
        </p14:section>
        <p14:section name="So What?" id="{c9abc35e-8143-1d8a-9ce6-a8cda954df05}">
          <p14:sldIdLst>
            <p14:sldId id="259"/>
            <p14:sldId id="260"/>
            <p14:sldId id="261"/>
          </p14:sldIdLst>
        </p14:section>
        <p14:section name="Now What?" id="{d07d5c62-0cf8-9b71-050c-c807ff7ce830}">
          <p14:sldIdLst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F667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F6672"/>
                </a:solidFill>
                <a:latin typeface="Calibri"/>
              </a:rPr>
              <a:t>Mean waiting minutes per order, As-Is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As-Is non-value-added minutes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D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Central Accessioning</c:v>
                  </c:pt>
                  <c:pt idx="1">
                    <c:v>Clinic Holding Bin</c:v>
                  </c:pt>
                  <c:pt idx="2">
                    <c:v>Verification &amp; EHR Sync</c:v>
                  </c:pt>
                  <c:pt idx="3">
                    <c:v>Exception Resolution</c:v>
                  </c:pt>
                  <c:pt idx="4">
                    <c:v>Sort &amp; Testing</c:v>
                  </c:pt>
                  <c:pt idx="5">
                    <c:v>Courier Transport &amp; Dock</c:v>
                  </c:pt>
                  <c:pt idx="6">
                    <c:v>Order to Draw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270</c:v>
                </c:pt>
                <c:pt idx="1">
                  <c:v>168</c:v>
                </c:pt>
                <c:pt idx="2">
                  <c:v>158</c:v>
                </c:pt>
                <c:pt idx="3">
                  <c:v>153</c:v>
                </c:pt>
                <c:pt idx="4">
                  <c:v>120</c:v>
                </c:pt>
                <c:pt idx="5">
                  <c:v>110</c:v>
                </c:pt>
                <c:pt idx="6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D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6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E2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6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F667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F6672"/>
                </a:solidFill>
                <a:latin typeface="Calibri"/>
              </a:rPr>
              <a:t>Minutes per order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Value-added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D3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As-Is</c:v>
                  </c:pt>
                  <c:pt idx="1">
                    <c:v>To-Be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Waiting, transit, rework</c:v>
                </c:pt>
              </c:strCache>
            </c:strRef>
          </c:tx>
          <c:spPr>
            <a:solidFill>
              <a:srgbClr val="B7BC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D3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As-Is</c:v>
                  </c:pt>
                  <c:pt idx="1">
                    <c:v>To-Be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1074</c:v>
                </c:pt>
                <c:pt idx="1">
                  <c:v>234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D30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6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E2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6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F667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approve a $520K, 16-week program that cuts lab time-to-result by three quarters. Structure: what is happening, why it matters, what we do about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analyzer upgrade did its job. Everything around it did not scale: 96% of the cycle is queueing, transit, re-keying and exception handling.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Minutes come from timestamps mined across 10,000 orders. Testing shows queue time only; the 42-minute analyzer run is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bottleneck maps to one lever on slide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cycle efficiency = value-added time / total cycle time. World-class healthcare processes exceed 15%.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Penalties and overtime are annual figures from finance. Patient risk shows up as ED length of stay and a 48-minute critical-value 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fall from 18 to 12. Every remaining handoff is a scan or an API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Before/after values for accessioning, clinic hold and exceptions are mined means from the simulated To-Be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ROI = (annual savings - capex) / capex. Savings categories: ED penalties $2.4M, overtime $850K, length of stay $680K, rework $420K.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approve capital and name an executive sponsor for the central hub and ED deployment in weeks 11 to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5544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F1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Health System is a fictional organization. All data is synthetic and generated for portfolio demonstration.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HEALTH SYSTEM · EXECUTIVE BRIEFING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5544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turnaround: 18.6 h to 4.6 h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mapping, value stream analysis and a 16-week plan to remove the queues around a $6.5M analyzer investment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Health System is a fictional organization. All data is synthetic and generated for portfolio demonstration.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WHAT? · SITUATION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takes 42 minutes of an 18.6 h wait</a:t>
            </a:r>
            <a:endParaRPr lang="en-US" sz="3000" dirty="0"/>
          </a:p>
        </p:txBody>
      </p:sp>
      <p:sp>
        <p:nvSpPr>
          <p:cNvPr id="5" name="stat-card-1"/>
          <p:cNvSpPr/>
          <p:nvPr/>
        </p:nvSpPr>
        <p:spPr>
          <a:xfrm>
            <a:off x="548640" y="192024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194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18.6 h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time-to-result today, up from 4.200A0h before the expansion</a:t>
            </a:r>
            <a:endParaRPr lang="en-US" sz="1400" dirty="0"/>
          </a:p>
        </p:txBody>
      </p:sp>
      <p:sp>
        <p:nvSpPr>
          <p:cNvPr id="8" name="stat-card-2"/>
          <p:cNvSpPr/>
          <p:nvPr/>
        </p:nvSpPr>
        <p:spPr>
          <a:xfrm>
            <a:off x="4297680" y="192024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2194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min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3063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Value-added analyzer and centrifuge time per order</a:t>
            </a:r>
            <a:endParaRPr lang="en-US" sz="1400" dirty="0"/>
          </a:p>
        </p:txBody>
      </p:sp>
      <p:sp>
        <p:nvSpPr>
          <p:cNvPr id="11" name="stat-card-3"/>
          <p:cNvSpPr/>
          <p:nvPr/>
        </p:nvSpPr>
        <p:spPr>
          <a:xfrm>
            <a:off x="8046720" y="192024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2194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$6.5M</a:t>
            </a:r>
            <a:endParaRPr lang="en-US" sz="48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3063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high-throughput analyzers that now sit idle between batch waves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7548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hospitals and 45 diagnostic hubs</a:t>
            </a:r>
            <a:pPr indent="0" marL="0">
              <a:buNone/>
            </a:pPr>
            <a:r>
              <a:rPr lang="en-US" sz="1600" dirty="0">
                <a:solidFill>
                  <a:srgbClr val="0F1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send 1.2 million lab orders a year through one central lab. The bottleneck is not the analyzer; it is how specimens and data reach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WHAT? · WHERE THE TIME GOES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accessioning holds 25% of all waiting time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ommentary"/>
          <p:cNvSpPr/>
          <p:nvPr/>
        </p:nvSpPr>
        <p:spPr>
          <a:xfrm>
            <a:off x="7863840" y="1737360"/>
            <a:ext cx="3749040" cy="4389120"/>
          </a:xfrm>
          <a:prstGeom prst="roundRect">
            <a:avLst>
              <a:gd name="adj" fmla="val 195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138160" y="2011680"/>
            <a:ext cx="3200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clinic specimens land between 4 and 6 PM, when evening staffing drops 30%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holds average 18.0 h for the 14.2% of orders that hit one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holding bins add 2.8 h because couriers run on a fixed clock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· ROOT CAUSES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bottlenecks drive the delay</a:t>
            </a:r>
            <a:endParaRPr lang="en-US" sz="3000" dirty="0"/>
          </a:p>
        </p:txBody>
      </p:sp>
      <p:sp>
        <p:nvSpPr>
          <p:cNvPr id="5" name="bottleneck-1"/>
          <p:cNvSpPr/>
          <p:nvPr/>
        </p:nvSpPr>
        <p:spPr>
          <a:xfrm>
            <a:off x="548640" y="17373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965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h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Accessioning wave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889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arrivals meet manual rescans; 8.4% of entries need re-keying</a:t>
            </a:r>
            <a:endParaRPr lang="en-US" sz="1400" dirty="0"/>
          </a:p>
        </p:txBody>
      </p:sp>
      <p:sp>
        <p:nvSpPr>
          <p:cNvPr id="9" name="bottleneck-2"/>
          <p:cNvSpPr/>
          <p:nvPr/>
        </p:nvSpPr>
        <p:spPr>
          <a:xfrm>
            <a:off x="6172200" y="17373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1965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864108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inflation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7889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ED STATs wait 152 min for testing, longer than flagged-routine STATs (119 min)</a:t>
            </a:r>
            <a:endParaRPr lang="en-US" sz="1400" dirty="0"/>
          </a:p>
        </p:txBody>
      </p:sp>
      <p:sp>
        <p:nvSpPr>
          <p:cNvPr id="13" name="bottleneck-3"/>
          <p:cNvSpPr/>
          <p:nvPr/>
        </p:nvSpPr>
        <p:spPr>
          <a:xfrm>
            <a:off x="548640" y="40233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251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 h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4297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courier clock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50749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Specimens idle in clinic bins; 3.2% are rejected for degradation</a:t>
            </a:r>
            <a:endParaRPr lang="en-US" sz="1400" dirty="0"/>
          </a:p>
        </p:txBody>
      </p:sp>
      <p:sp>
        <p:nvSpPr>
          <p:cNvPr id="17" name="bottleneck-4"/>
          <p:cNvSpPr/>
          <p:nvPr/>
        </p:nvSpPr>
        <p:spPr>
          <a:xfrm>
            <a:off x="6172200" y="40233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46520" y="4251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18.0 h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8641080" y="4297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exception tickets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446520" y="50749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mismatches travel by inter-office mail while samples expire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· VALUE STREAM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3.76% of the cycle adds value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pce-callout"/>
          <p:cNvSpPr/>
          <p:nvPr/>
        </p:nvSpPr>
        <p:spPr>
          <a:xfrm>
            <a:off x="8229600" y="173736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503920" y="2011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3.76%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8503920" y="28803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process cycle efficiency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503920" y="38404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15.22%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4709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To-Be, above the 15% benchmark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· BUSINESS IMPACT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delay costs $6.0M a year before patient risk</a:t>
            </a:r>
            <a:endParaRPr lang="en-US" sz="3000" dirty="0"/>
          </a:p>
        </p:txBody>
      </p:sp>
      <p:sp>
        <p:nvSpPr>
          <p:cNvPr id="5" name="impact-1"/>
          <p:cNvSpPr/>
          <p:nvPr/>
        </p:nvSpPr>
        <p:spPr>
          <a:xfrm>
            <a:off x="548640" y="19202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$4.8M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063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penalties, bed blockage and walk-outs (+3.4 h ED length of stay)</a:t>
            </a:r>
            <a:endParaRPr lang="en-US" sz="1400" dirty="0"/>
          </a:p>
        </p:txBody>
      </p:sp>
      <p:sp>
        <p:nvSpPr>
          <p:cNvPr id="8" name="impact-2"/>
          <p:cNvSpPr/>
          <p:nvPr/>
        </p:nvSpPr>
        <p:spPr>
          <a:xfrm>
            <a:off x="3383280" y="19202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1188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$1.2M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3611880" y="3063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Unbudgeted overtime and expedited freight</a:t>
            </a:r>
            <a:endParaRPr lang="en-US" sz="1400" dirty="0"/>
          </a:p>
        </p:txBody>
      </p:sp>
      <p:sp>
        <p:nvSpPr>
          <p:cNvPr id="11" name="impact-3"/>
          <p:cNvSpPr/>
          <p:nvPr/>
        </p:nvSpPr>
        <p:spPr>
          <a:xfrm>
            <a:off x="6217920" y="19202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4652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14.2%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3063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needing manual intervention or re-collection</a:t>
            </a:r>
            <a:endParaRPr lang="en-US" sz="1400" dirty="0"/>
          </a:p>
        </p:txBody>
      </p:sp>
      <p:sp>
        <p:nvSpPr>
          <p:cNvPr id="14" name="impact-4"/>
          <p:cNvSpPr/>
          <p:nvPr/>
        </p:nvSpPr>
        <p:spPr>
          <a:xfrm>
            <a:off x="9052560" y="19202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8116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min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9281160" y="3063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panic-value flag to the physician phone call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1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the process as it is means paying for idle analyzers, overtime and ED congestion at the same time.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WHAT? · TO-BE DESIGN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lanes, 12 steps, no manual handoffs</a:t>
            </a:r>
            <a:endParaRPr lang="en-US" sz="3000" dirty="0"/>
          </a:p>
        </p:txBody>
      </p:sp>
      <p:sp>
        <p:nvSpPr>
          <p:cNvPr id="5" name="lane-1"/>
          <p:cNvSpPr/>
          <p:nvPr/>
        </p:nvSpPr>
        <p:spPr>
          <a:xfrm>
            <a:off x="548640" y="2011680"/>
            <a:ext cx="2011680" cy="3017520"/>
          </a:xfrm>
          <a:prstGeom prst="roundRect">
            <a:avLst>
              <a:gd name="adj" fmla="val 363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880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entry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8328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Auto-barcoded EHR orders and smart phlebotomy scans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587752" y="3383280"/>
            <a:ext cx="228600" cy="274320"/>
          </a:xfrm>
          <a:prstGeom prst="rightArrow">
            <a:avLst/>
          </a:prstGeom>
          <a:solidFill>
            <a:srgbClr val="B7BCC4"/>
          </a:solidFill>
          <a:ln w="12700">
            <a:solidFill>
              <a:srgbClr val="B7BCC4"/>
            </a:solidFill>
            <a:prstDash val="solid"/>
          </a:ln>
        </p:spPr>
      </p:sp>
      <p:sp>
        <p:nvSpPr>
          <p:cNvPr id="10" name="lane-2"/>
          <p:cNvSpPr/>
          <p:nvPr/>
        </p:nvSpPr>
        <p:spPr>
          <a:xfrm>
            <a:off x="2834640" y="2011680"/>
            <a:ext cx="2011680" cy="3017520"/>
          </a:xfrm>
          <a:prstGeom prst="roundRect">
            <a:avLst>
              <a:gd name="adj" fmla="val 363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63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3063240" y="2880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063240" y="338328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triggered at 25 tubes, direct to the hub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73752" y="3383280"/>
            <a:ext cx="228600" cy="274320"/>
          </a:xfrm>
          <a:prstGeom prst="rightArrow">
            <a:avLst/>
          </a:prstGeom>
          <a:solidFill>
            <a:srgbClr val="B7BCC4"/>
          </a:solidFill>
          <a:ln w="12700">
            <a:solidFill>
              <a:srgbClr val="B7BCC4"/>
            </a:solidFill>
            <a:prstDash val="solid"/>
          </a:ln>
        </p:spPr>
      </p:sp>
      <p:sp>
        <p:nvSpPr>
          <p:cNvPr id="15" name="lane-3"/>
          <p:cNvSpPr/>
          <p:nvPr/>
        </p:nvSpPr>
        <p:spPr>
          <a:xfrm>
            <a:off x="5120640" y="2011680"/>
            <a:ext cx="2011680" cy="3017520"/>
          </a:xfrm>
          <a:prstGeom prst="roundRect">
            <a:avLst>
              <a:gd name="adj" fmla="val 3636"/>
            </a:avLst>
          </a:prstGeom>
          <a:solidFill>
            <a:srgbClr val="14365D"/>
          </a:solidFill>
          <a:ln w="12700">
            <a:solidFill>
              <a:srgbClr val="14365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49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5349240" y="2880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Accessioning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5349240" y="338328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unloading and optical sorting at 1,200 tubes/h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159752" y="3383280"/>
            <a:ext cx="228600" cy="274320"/>
          </a:xfrm>
          <a:prstGeom prst="rightArrow">
            <a:avLst/>
          </a:prstGeom>
          <a:solidFill>
            <a:srgbClr val="B7BCC4"/>
          </a:solidFill>
          <a:ln w="12700">
            <a:solidFill>
              <a:srgbClr val="B7BCC4"/>
            </a:solidFill>
            <a:prstDash val="solid"/>
          </a:ln>
        </p:spPr>
      </p:sp>
      <p:sp>
        <p:nvSpPr>
          <p:cNvPr id="20" name="lane-4"/>
          <p:cNvSpPr/>
          <p:nvPr/>
        </p:nvSpPr>
        <p:spPr>
          <a:xfrm>
            <a:off x="7406640" y="2011680"/>
            <a:ext cx="2011680" cy="3017520"/>
          </a:xfrm>
          <a:prstGeom prst="roundRect">
            <a:avLst>
              <a:gd name="adj" fmla="val 363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35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19"/>
          <p:cNvSpPr txBox="1"/>
          <p:nvPr/>
        </p:nvSpPr>
        <p:spPr>
          <a:xfrm>
            <a:off x="7635240" y="2880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635240" y="338328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Rule-engine triage and 92% auto-verification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9445752" y="3383280"/>
            <a:ext cx="228600" cy="274320"/>
          </a:xfrm>
          <a:prstGeom prst="rightArrow">
            <a:avLst/>
          </a:prstGeom>
          <a:solidFill>
            <a:srgbClr val="B7BCC4"/>
          </a:solidFill>
          <a:ln w="12700">
            <a:solidFill>
              <a:srgbClr val="B7BCC4"/>
            </a:solidFill>
            <a:prstDash val="solid"/>
          </a:ln>
        </p:spPr>
      </p:sp>
      <p:sp>
        <p:nvSpPr>
          <p:cNvPr id="25" name="lane-5"/>
          <p:cNvSpPr/>
          <p:nvPr/>
        </p:nvSpPr>
        <p:spPr>
          <a:xfrm>
            <a:off x="9692640" y="2011680"/>
            <a:ext cx="2011680" cy="3017520"/>
          </a:xfrm>
          <a:prstGeom prst="roundRect">
            <a:avLst>
              <a:gd name="adj" fmla="val 363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921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4"/>
          <p:cNvSpPr txBox="1"/>
          <p:nvPr/>
        </p:nvSpPr>
        <p:spPr>
          <a:xfrm>
            <a:off x="9921240" y="2880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sync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9921240" y="338328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writeback and push alerts for critical values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Accessioning, the largest As-Is queue, drops from 4.5 h to 12 min.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WHAT? · LEVERS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changes, each aimed at one queue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200400"/>
                <a:gridCol w="1828800"/>
                <a:gridCol w="18288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65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Optical accessioning sorters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Accessioning queue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 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Volume-triggered courier dispatch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 holding 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 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 governance in the EHR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 order share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exception portal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resolution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 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1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lever removes a queue rather than speeding up a step, so the gains do not depend on staff working faster.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WHAT? · IMPACT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75.3% faster, $4.35M a year, paid back in 1.4 months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7665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645920"/>
                <a:gridCol w="16459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6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As-Is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6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To-Be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65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time-to-result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 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 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cycle efficiency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15.22%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Re-key error 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Specimen rejection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 order share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Critical-value lag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F1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roi-1"/>
          <p:cNvSpPr/>
          <p:nvPr/>
        </p:nvSpPr>
        <p:spPr>
          <a:xfrm>
            <a:off x="7680960" y="173736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955280" y="1874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736.5%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7955280" y="2542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First-year net ROI</a:t>
            </a:r>
            <a:endParaRPr lang="en-US" sz="1400" dirty="0"/>
          </a:p>
        </p:txBody>
      </p:sp>
      <p:sp>
        <p:nvSpPr>
          <p:cNvPr id="9" name="roi-2"/>
          <p:cNvSpPr/>
          <p:nvPr/>
        </p:nvSpPr>
        <p:spPr>
          <a:xfrm>
            <a:off x="7680960" y="320040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955280" y="3337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$4.35M</a:t>
            </a:r>
            <a:endParaRPr lang="en-US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7955280" y="40050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 on $520K capex</a:t>
            </a:r>
            <a:endParaRPr lang="en-US" sz="1400" dirty="0"/>
          </a:p>
        </p:txBody>
      </p:sp>
      <p:sp>
        <p:nvSpPr>
          <p:cNvPr id="12" name="roi-3"/>
          <p:cNvSpPr/>
          <p:nvPr/>
        </p:nvSpPr>
        <p:spPr>
          <a:xfrm>
            <a:off x="7680960" y="466344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955280" y="4800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D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 mo</a:t>
            </a:r>
            <a:endParaRPr lang="en-US" sz="3200" dirty="0"/>
          </a:p>
        </p:txBody>
      </p:sp>
      <p:sp>
        <p:nvSpPr>
          <p:cNvPr id="14" name="Text 10"/>
          <p:cNvSpPr txBox="1"/>
          <p:nvPr/>
        </p:nvSpPr>
        <p:spPr>
          <a:xfrm>
            <a:off x="7955280" y="54681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WHAT? · DECISION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5544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$520K and a 16-week program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Charter &amp; baseline VSM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54880" y="2798064"/>
            <a:ext cx="6675120" cy="256032"/>
          </a:xfrm>
          <a:prstGeom prst="rect">
            <a:avLst/>
          </a:prstGeom>
          <a:solidFill>
            <a:srgbClr val="1F4673"/>
          </a:solidFill>
          <a:ln w="12700">
            <a:solidFill>
              <a:srgbClr val="1F4673"/>
            </a:solidFill>
            <a:prstDash val="solid"/>
          </a:ln>
        </p:spPr>
      </p:sp>
      <p:sp>
        <p:nvSpPr>
          <p:cNvPr id="7" name="phase-1"/>
          <p:cNvSpPr/>
          <p:nvPr/>
        </p:nvSpPr>
        <p:spPr>
          <a:xfrm>
            <a:off x="4754880" y="2798064"/>
            <a:ext cx="834390" cy="256032"/>
          </a:xfrm>
          <a:prstGeom prst="roundRect">
            <a:avLst>
              <a:gd name="adj" fmla="val 1785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3182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Process mining &amp; LIS log analysis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3236976"/>
            <a:ext cx="6675120" cy="256032"/>
          </a:xfrm>
          <a:prstGeom prst="rect">
            <a:avLst/>
          </a:prstGeom>
          <a:solidFill>
            <a:srgbClr val="1F4673"/>
          </a:solidFill>
          <a:ln w="12700">
            <a:solidFill>
              <a:srgbClr val="1F4673"/>
            </a:solidFill>
            <a:prstDash val="solid"/>
          </a:ln>
        </p:spPr>
      </p:sp>
      <p:sp>
        <p:nvSpPr>
          <p:cNvPr id="10" name="phase-2"/>
          <p:cNvSpPr/>
          <p:nvPr/>
        </p:nvSpPr>
        <p:spPr>
          <a:xfrm>
            <a:off x="5589270" y="3236976"/>
            <a:ext cx="1251585" cy="256032"/>
          </a:xfrm>
          <a:prstGeom prst="roundRect">
            <a:avLst>
              <a:gd name="adj" fmla="val 1785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6210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Root cause (fishbone &amp; FMEA)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54880" y="3675888"/>
            <a:ext cx="6675120" cy="256032"/>
          </a:xfrm>
          <a:prstGeom prst="rect">
            <a:avLst/>
          </a:prstGeom>
          <a:solidFill>
            <a:srgbClr val="1F4673"/>
          </a:solidFill>
          <a:ln w="12700">
            <a:solidFill>
              <a:srgbClr val="1F4673"/>
            </a:solidFill>
            <a:prstDash val="solid"/>
          </a:ln>
        </p:spPr>
      </p:sp>
      <p:sp>
        <p:nvSpPr>
          <p:cNvPr id="13" name="phase-3"/>
          <p:cNvSpPr/>
          <p:nvPr/>
        </p:nvSpPr>
        <p:spPr>
          <a:xfrm>
            <a:off x="6840855" y="3675888"/>
            <a:ext cx="834390" cy="256032"/>
          </a:xfrm>
          <a:prstGeom prst="roundRect">
            <a:avLst>
              <a:gd name="adj" fmla="val 1785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0599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To-Be architecture &amp; pilot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754880" y="4114800"/>
            <a:ext cx="6675120" cy="256032"/>
          </a:xfrm>
          <a:prstGeom prst="rect">
            <a:avLst/>
          </a:prstGeom>
          <a:solidFill>
            <a:srgbClr val="1F4673"/>
          </a:solidFill>
          <a:ln w="12700">
            <a:solidFill>
              <a:srgbClr val="1F4673"/>
            </a:solidFill>
            <a:prstDash val="solid"/>
          </a:ln>
        </p:spPr>
      </p:sp>
      <p:sp>
        <p:nvSpPr>
          <p:cNvPr id="16" name="phase-4"/>
          <p:cNvSpPr/>
          <p:nvPr/>
        </p:nvSpPr>
        <p:spPr>
          <a:xfrm>
            <a:off x="7675245" y="4114800"/>
            <a:ext cx="1251585" cy="256032"/>
          </a:xfrm>
          <a:prstGeom prst="roundRect">
            <a:avLst>
              <a:gd name="adj" fmla="val 1785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498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Central hub &amp; ED deployment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754880" y="4553712"/>
            <a:ext cx="6675120" cy="256032"/>
          </a:xfrm>
          <a:prstGeom prst="rect">
            <a:avLst/>
          </a:prstGeom>
          <a:solidFill>
            <a:srgbClr val="1F4673"/>
          </a:solidFill>
          <a:ln w="12700">
            <a:solidFill>
              <a:srgbClr val="1F4673"/>
            </a:solidFill>
            <a:prstDash val="solid"/>
          </a:ln>
        </p:spPr>
      </p:sp>
      <p:sp>
        <p:nvSpPr>
          <p:cNvPr id="19" name="phase-5"/>
          <p:cNvSpPr/>
          <p:nvPr/>
        </p:nvSpPr>
        <p:spPr>
          <a:xfrm>
            <a:off x="8926830" y="4553712"/>
            <a:ext cx="1251585" cy="256032"/>
          </a:xfrm>
          <a:prstGeom prst="roundRect">
            <a:avLst>
              <a:gd name="adj" fmla="val 1785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4937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System-wide rollout &amp; SOP training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754880" y="4992624"/>
            <a:ext cx="6675120" cy="256032"/>
          </a:xfrm>
          <a:prstGeom prst="rect">
            <a:avLst/>
          </a:prstGeom>
          <a:solidFill>
            <a:srgbClr val="1F4673"/>
          </a:solidFill>
          <a:ln w="12700">
            <a:solidFill>
              <a:srgbClr val="1F4673"/>
            </a:solidFill>
            <a:prstDash val="solid"/>
          </a:ln>
        </p:spPr>
      </p:sp>
      <p:sp>
        <p:nvSpPr>
          <p:cNvPr id="22" name="phase-6"/>
          <p:cNvSpPr/>
          <p:nvPr/>
        </p:nvSpPr>
        <p:spPr>
          <a:xfrm>
            <a:off x="10178415" y="4992624"/>
            <a:ext cx="834390" cy="256032"/>
          </a:xfrm>
          <a:prstGeom prst="roundRect">
            <a:avLst>
              <a:gd name="adj" fmla="val 1785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5376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Audit &amp; control plan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754880" y="5431536"/>
            <a:ext cx="6675120" cy="256032"/>
          </a:xfrm>
          <a:prstGeom prst="rect">
            <a:avLst/>
          </a:prstGeom>
          <a:solidFill>
            <a:srgbClr val="1F4673"/>
          </a:solidFill>
          <a:ln w="12700">
            <a:solidFill>
              <a:srgbClr val="1F4673"/>
            </a:solidFill>
            <a:prstDash val="solid"/>
          </a:ln>
        </p:spPr>
      </p:sp>
      <p:sp>
        <p:nvSpPr>
          <p:cNvPr id="25" name="phase-7"/>
          <p:cNvSpPr/>
          <p:nvPr/>
        </p:nvSpPr>
        <p:spPr>
          <a:xfrm>
            <a:off x="11012805" y="5431536"/>
            <a:ext cx="417195" cy="256032"/>
          </a:xfrm>
          <a:prstGeom prst="roundRect">
            <a:avLst>
              <a:gd name="adj" fmla="val 1785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54880" y="5852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10332720" y="5852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16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Health System is a fictional organization. All data is synthetic and generated for portfolio demonstration.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Diagnostic Pipeline Turnaround: Executive Briefing</dc:title>
  <dc:subject>Process mapping and throughput optimization case study</dc:subject>
  <dc:creator>Portfolio case study</dc:creator>
  <cp:lastModifiedBy>Portfolio case study</cp:lastModifiedBy>
  <cp:revision>1</cp:revision>
  <dcterms:created xsi:type="dcterms:W3CDTF">2026-10-11T23:45:24Z</dcterms:created>
  <dcterms:modified xsi:type="dcterms:W3CDTF">2026-10-11T23:45:24Z</dcterms:modified>
</cp:coreProperties>
</file>